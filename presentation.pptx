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yutro Sans" charset="1" panose="00000000000000000000"/>
      <p:regular r:id="rId18"/>
    </p:embeddedFont>
    <p:embeddedFont>
      <p:font typeface="Nyutro Sans Bold" charset="1" panose="00000000000000000000"/>
      <p:regular r:id="rId19"/>
    </p:embeddedFont>
    <p:embeddedFont>
      <p:font typeface="Nyutro Sans Heavy" charset="1" panose="000000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397750"/>
            <a:ext cx="6886575" cy="222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Un compte à rebours visuel captivant de 30 secondes pour préparer le public à l'importance de la cybersécurité. Les chiffres défilent de 30 à 0, accompagnés d'</a:t>
            </a:r>
            <a:r>
              <a:rPr lang="en-US" b="true" sz="2499" strike="noStrike" u="none">
                <a:solidFill>
                  <a:srgbClr val="FFFFFF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icônes technologiques</a:t>
            </a: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 en arrière-plan.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42950"/>
            <a:ext cx="6886575" cy="232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Compte à rebours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576171" cy="2770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6172" cy="2770723"/>
            </a:xfrm>
            <a:custGeom>
              <a:avLst/>
              <a:gdLst/>
              <a:ahLst/>
              <a:cxnLst/>
              <a:rect r="r" b="b" t="t" l="l"/>
              <a:pathLst>
                <a:path h="2770723" w="2576172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l="-280" t="0" r="-28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666750"/>
            <a:ext cx="6886575" cy="10283443"/>
            <a:chOff x="0" y="0"/>
            <a:chExt cx="1863593" cy="278282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63594" cy="2782840"/>
            </a:xfrm>
            <a:custGeom>
              <a:avLst/>
              <a:gdLst/>
              <a:ahLst/>
              <a:cxnLst/>
              <a:rect r="r" b="b" t="t" l="l"/>
              <a:pathLst>
                <a:path h="2782840" w="1863594">
                  <a:moveTo>
                    <a:pt x="1376152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605167"/>
                  </a:lnTo>
                  <a:cubicBezTo>
                    <a:pt x="0" y="2703293"/>
                    <a:pt x="79547" y="2782840"/>
                    <a:pt x="177673" y="2782840"/>
                  </a:cubicBezTo>
                  <a:lnTo>
                    <a:pt x="1685921" y="2782840"/>
                  </a:lnTo>
                  <a:cubicBezTo>
                    <a:pt x="1784047" y="2782840"/>
                    <a:pt x="1863594" y="2703293"/>
                    <a:pt x="1863594" y="2605167"/>
                  </a:cubicBezTo>
                  <a:lnTo>
                    <a:pt x="1863594" y="523958"/>
                  </a:lnTo>
                  <a:cubicBezTo>
                    <a:pt x="1863594" y="480251"/>
                    <a:pt x="1847484" y="438079"/>
                    <a:pt x="1818345" y="405503"/>
                  </a:cubicBezTo>
                  <a:lnTo>
                    <a:pt x="1508568" y="59214"/>
                  </a:lnTo>
                  <a:cubicBezTo>
                    <a:pt x="1474864" y="21536"/>
                    <a:pt x="1426705" y="0"/>
                    <a:pt x="137615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2" r="0" b="-1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9763125" cy="7591530"/>
            <a:chOff x="0" y="0"/>
            <a:chExt cx="13017500" cy="1012204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0"/>
              <a:ext cx="13017500" cy="92822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3082"/>
                </a:lnSpc>
              </a:pPr>
              <a:r>
                <a:rPr lang="en-US" b="true" sz="13082" spc="-130">
                  <a:solidFill>
                    <a:srgbClr val="FFFFFF"/>
                  </a:solidFill>
                  <a:latin typeface="Nyutro Sans Heavy"/>
                  <a:ea typeface="Nyutro Sans Heavy"/>
                  <a:cs typeface="Nyutro Sans Heavy"/>
                  <a:sym typeface="Nyutro Sans Heavy"/>
                </a:rPr>
                <a:t>Cybersécurité : Prévention, Détection, Réponse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9388615"/>
              <a:ext cx="91821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 spc="-60">
                  <a:solidFill>
                    <a:srgbClr val="FFFFFF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Arsène Binene – Cybersecurity Learner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Pourquoi la cybersécurité ?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551940"/>
            <a:chOff x="0" y="0"/>
            <a:chExt cx="4805315" cy="206925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28575"/>
              <a:ext cx="4805315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0"/>
                </a:lnSpc>
              </a:pPr>
              <a:r>
                <a:rPr lang="en-US" b="true" sz="3900" spc="-39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Cyberattaques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8902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Augmentation des menaces en ligne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551940"/>
            <a:chOff x="0" y="0"/>
            <a:chExt cx="4042139" cy="206925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28575"/>
              <a:ext cx="4042139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0"/>
                </a:lnSpc>
              </a:pPr>
              <a:r>
                <a:rPr lang="en-US" b="true" sz="3900" spc="-39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Protection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8902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Sécurisation des données sensibles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1551940"/>
            <a:chOff x="0" y="0"/>
            <a:chExt cx="4042139" cy="206925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28575"/>
              <a:ext cx="4042139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0"/>
                </a:lnSpc>
              </a:pPr>
              <a:r>
                <a:rPr lang="en-US" b="true" sz="3900" spc="-39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Continuité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8902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Garantie des services informatiques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1551940"/>
            <a:chOff x="0" y="0"/>
            <a:chExt cx="4033431" cy="206925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28575"/>
              <a:ext cx="4033431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0"/>
                </a:lnSpc>
              </a:pPr>
              <a:r>
                <a:rPr lang="en-US" b="true" sz="3900" spc="-39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Sensibilisation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89027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Importance de l'éducation continue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5207000"/>
            <a:ext cx="6886575" cy="4413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Le cycle de vie de la cybersécurité comprend plusieurs étapes clés 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222222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Prévention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222222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Détection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222222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Réponse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222222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Analyse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trike="noStrike" u="none">
                <a:solidFill>
                  <a:srgbClr val="222222"/>
                </a:solidFill>
                <a:latin typeface="Nyutro Sans Bold"/>
                <a:ea typeface="Nyutro Sans Bold"/>
                <a:cs typeface="Nyutro Sans Bold"/>
                <a:sym typeface="Nyutro Sans Bold"/>
              </a:rPr>
              <a:t>Gestion des risques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Chaque étape est essentielle pour assurer une protection complète des systèmes et des données.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42950"/>
            <a:ext cx="68865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Cycle de vie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576171" cy="2770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6172" cy="2770723"/>
            </a:xfrm>
            <a:custGeom>
              <a:avLst/>
              <a:gdLst/>
              <a:ahLst/>
              <a:cxnLst/>
              <a:rect r="r" b="b" t="t" l="l"/>
              <a:pathLst>
                <a:path h="2770723" w="2576172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l="-280" t="0" r="-280" b="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Prévention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551940"/>
            <a:chOff x="0" y="0"/>
            <a:chExt cx="4805315" cy="206925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28575"/>
              <a:ext cx="4805315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0"/>
                </a:lnSpc>
              </a:pPr>
              <a:r>
                <a:rPr lang="en-US" b="true" sz="3900" spc="-39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Correctifs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8902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Gestion des mises à jour essentielles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551940"/>
            <a:chOff x="0" y="0"/>
            <a:chExt cx="4042139" cy="206925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28575"/>
              <a:ext cx="4042139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0"/>
                </a:lnSpc>
              </a:pPr>
              <a:r>
                <a:rPr lang="en-US" b="true" sz="3900" spc="-39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Sensibilisation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8902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Formation continue des utilisateurs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1990090"/>
            <a:chOff x="0" y="0"/>
            <a:chExt cx="4042139" cy="265345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28575"/>
              <a:ext cx="4042139" cy="13379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0"/>
                </a:lnSpc>
              </a:pPr>
              <a:r>
                <a:rPr lang="en-US" b="true" sz="3900" spc="-39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Authentification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4744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Sécurisation avec plusieurs facteurs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1551940"/>
            <a:chOff x="0" y="0"/>
            <a:chExt cx="4033431" cy="206925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28575"/>
              <a:ext cx="4033431" cy="7537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10"/>
                </a:lnSpc>
              </a:pPr>
              <a:r>
                <a:rPr lang="en-US" b="true" sz="3900" spc="-39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Segmentation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89027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Isolation des réseaux critiques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Outils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653858"/>
            <a:chOff x="0" y="0"/>
            <a:chExt cx="4805315" cy="220514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38100"/>
              <a:ext cx="4805315" cy="880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17"/>
                </a:lnSpc>
              </a:pPr>
              <a:r>
                <a:rPr lang="en-US" b="true" sz="4575" spc="-45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Antivirus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102616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Protection contre les logiciels malveillants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653858"/>
            <a:chOff x="0" y="0"/>
            <a:chExt cx="4042139" cy="220514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38100"/>
              <a:ext cx="4042139" cy="880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17"/>
                </a:lnSpc>
              </a:pPr>
              <a:r>
                <a:rPr lang="en-US" b="true" sz="4575" spc="-45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Pare-feu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02616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Filtrage du trafic réseau entrant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1653858"/>
            <a:chOff x="0" y="0"/>
            <a:chExt cx="4042139" cy="220514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38100"/>
              <a:ext cx="4042139" cy="880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17"/>
                </a:lnSpc>
              </a:pPr>
              <a:r>
                <a:rPr lang="en-US" b="true" sz="4575" spc="-45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IAM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02616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Gestion des accès utilisateurs sécurisés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2092008"/>
            <a:chOff x="0" y="0"/>
            <a:chExt cx="4033431" cy="278934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38100"/>
              <a:ext cx="4033431" cy="880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17"/>
                </a:lnSpc>
              </a:pPr>
              <a:r>
                <a:rPr lang="en-US" b="true" sz="4575" spc="-45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Surveillance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026160"/>
              <a:ext cx="4033431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Détection des activités suspectes en temps réel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Détection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879600"/>
            <a:chOff x="0" y="0"/>
            <a:chExt cx="4805315" cy="250613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38100"/>
              <a:ext cx="4805315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Journaux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b="true" sz="2499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Surveillance active</a:t>
              </a:r>
              <a:r>
                <a:rPr lang="en-US" sz="2499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 des logs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2317750"/>
            <a:chOff x="0" y="0"/>
            <a:chExt cx="4042139" cy="309033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38100"/>
              <a:ext cx="4042139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IDS/IPS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327150"/>
              <a:ext cx="4042139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Détection des intrusions instantanées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1879600"/>
            <a:chOff x="0" y="0"/>
            <a:chExt cx="4042139" cy="250613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38100"/>
              <a:ext cx="4042139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Analyse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32715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Évaluation du </a:t>
              </a:r>
              <a:r>
                <a:rPr lang="en-US" b="true" sz="2499" strike="noStrike" u="none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trafic réseau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2317750"/>
            <a:chOff x="0" y="0"/>
            <a:chExt cx="4033431" cy="309033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38100"/>
              <a:ext cx="4033431" cy="1181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5400"/>
                </a:lnSpc>
              </a:pPr>
              <a:r>
                <a:rPr lang="en-US" b="true" sz="6000" spc="-60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Réseaux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327150"/>
              <a:ext cx="4033431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Surveillance des </a:t>
              </a:r>
              <a:r>
                <a:rPr lang="en-US" b="true" sz="2499" strike="noStrike" u="none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communications sécurisées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Outils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1666240"/>
            <a:chOff x="0" y="0"/>
            <a:chExt cx="4805315" cy="222165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38100"/>
              <a:ext cx="4805315" cy="89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85"/>
                </a:lnSpc>
              </a:pPr>
              <a:r>
                <a:rPr lang="en-US" b="true" sz="4650" spc="-46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Snort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10426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Logiciel de détection d'intrusions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666240"/>
            <a:chOff x="0" y="0"/>
            <a:chExt cx="4042139" cy="222165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38100"/>
              <a:ext cx="4042139" cy="89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85"/>
                </a:lnSpc>
              </a:pPr>
              <a:r>
                <a:rPr lang="en-US" b="true" sz="4650" spc="-46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Suricata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04267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Système d'analyse de paquets réseau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2104390"/>
            <a:chOff x="0" y="0"/>
            <a:chExt cx="4042139" cy="280585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38100"/>
              <a:ext cx="4042139" cy="89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85"/>
                </a:lnSpc>
              </a:pPr>
              <a:r>
                <a:rPr lang="en-US" b="true" sz="4650" spc="-46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SIEM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042670"/>
              <a:ext cx="4042139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Gestion des informations de sécurité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1666240"/>
            <a:chOff x="0" y="0"/>
            <a:chExt cx="4033431" cy="222165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38100"/>
              <a:ext cx="4033431" cy="8966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185"/>
                </a:lnSpc>
              </a:pPr>
              <a:r>
                <a:rPr lang="en-US" b="true" sz="4650" spc="-46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Plateformes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04267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Outils intégrés pour la sécurité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3352800"/>
            <a:ext cx="4010025" cy="6267450"/>
            <a:chOff x="0" y="0"/>
            <a:chExt cx="1056138" cy="165068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981575" y="3352800"/>
            <a:ext cx="4010025" cy="6267450"/>
            <a:chOff x="0" y="0"/>
            <a:chExt cx="1056138" cy="165068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352800"/>
            <a:ext cx="4010025" cy="6267450"/>
            <a:chOff x="0" y="0"/>
            <a:chExt cx="1056138" cy="165068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4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3611225" y="3352800"/>
            <a:ext cx="4010025" cy="6267450"/>
            <a:chOff x="0" y="0"/>
            <a:chExt cx="1056138" cy="165068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56138" cy="1650686"/>
            </a:xfrm>
            <a:custGeom>
              <a:avLst/>
              <a:gdLst/>
              <a:ahLst/>
              <a:cxnLst/>
              <a:rect r="r" b="b" t="t" l="l"/>
              <a:pathLst>
                <a:path h="1650686" w="1056138">
                  <a:moveTo>
                    <a:pt x="48266" y="0"/>
                  </a:moveTo>
                  <a:lnTo>
                    <a:pt x="1007872" y="0"/>
                  </a:lnTo>
                  <a:cubicBezTo>
                    <a:pt x="1034529" y="0"/>
                    <a:pt x="1056138" y="21609"/>
                    <a:pt x="1056138" y="48266"/>
                  </a:cubicBezTo>
                  <a:lnTo>
                    <a:pt x="1056138" y="1602420"/>
                  </a:lnTo>
                  <a:cubicBezTo>
                    <a:pt x="1056138" y="1615221"/>
                    <a:pt x="1051053" y="1627498"/>
                    <a:pt x="1042001" y="1636550"/>
                  </a:cubicBezTo>
                  <a:cubicBezTo>
                    <a:pt x="1032950" y="1645601"/>
                    <a:pt x="1020673" y="1650686"/>
                    <a:pt x="1007872" y="1650686"/>
                  </a:cubicBezTo>
                  <a:lnTo>
                    <a:pt x="48266" y="1650686"/>
                  </a:lnTo>
                  <a:cubicBezTo>
                    <a:pt x="21609" y="1650686"/>
                    <a:pt x="0" y="1629077"/>
                    <a:pt x="0" y="1602420"/>
                  </a:cubicBezTo>
                  <a:lnTo>
                    <a:pt x="0" y="48266"/>
                  </a:lnTo>
                  <a:cubicBezTo>
                    <a:pt x="0" y="21609"/>
                    <a:pt x="21609" y="0"/>
                    <a:pt x="48266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056138" cy="1660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4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742950"/>
            <a:ext cx="16954500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Réponse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869769" y="6019800"/>
            <a:ext cx="3603986" cy="2076768"/>
            <a:chOff x="0" y="0"/>
            <a:chExt cx="4805315" cy="2769023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47625"/>
              <a:ext cx="4805315" cy="850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2"/>
                </a:lnSpc>
              </a:pPr>
              <a:r>
                <a:rPr lang="en-US" b="true" sz="4425" spc="-44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Isolation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381588" y="1005840"/>
              <a:ext cx="4042139" cy="17631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</a:pPr>
              <a:r>
                <a:rPr lang="en-US" sz="2499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Déconnecter les machines compromises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470786" y="6019800"/>
            <a:ext cx="3031604" cy="1638618"/>
            <a:chOff x="0" y="0"/>
            <a:chExt cx="4042139" cy="2184823"/>
          </a:xfrm>
        </p:grpSpPr>
        <p:sp>
          <p:nvSpPr>
            <p:cNvPr name="TextBox 19" id="19"/>
            <p:cNvSpPr txBox="true"/>
            <p:nvPr/>
          </p:nvSpPr>
          <p:spPr>
            <a:xfrm rot="0">
              <a:off x="0" y="47625"/>
              <a:ext cx="4042139" cy="850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2"/>
                </a:lnSpc>
              </a:pPr>
              <a:r>
                <a:rPr lang="en-US" b="true" sz="4425" spc="-44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Blocage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0" y="100584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Interdire les adresses IP malveillantes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785611" y="6019800"/>
            <a:ext cx="3031604" cy="1638618"/>
            <a:chOff x="0" y="0"/>
            <a:chExt cx="4042139" cy="2184823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47625"/>
              <a:ext cx="4042139" cy="850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2"/>
                </a:lnSpc>
              </a:pPr>
              <a:r>
                <a:rPr lang="en-US" b="true" sz="4425" spc="-44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Restauration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1005840"/>
              <a:ext cx="4042139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Réparer les systèmes affectés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103701" y="6019800"/>
            <a:ext cx="3025073" cy="1638618"/>
            <a:chOff x="0" y="0"/>
            <a:chExt cx="4033431" cy="218482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47625"/>
              <a:ext cx="4033431" cy="8502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982"/>
                </a:lnSpc>
              </a:pPr>
              <a:r>
                <a:rPr lang="en-US" b="true" sz="4425" spc="-44">
                  <a:solidFill>
                    <a:srgbClr val="222222"/>
                  </a:solidFill>
                  <a:latin typeface="Nyutro Sans Bold"/>
                  <a:ea typeface="Nyutro Sans Bold"/>
                  <a:cs typeface="Nyutro Sans Bold"/>
                  <a:sym typeface="Nyutro Sans Bold"/>
                </a:rPr>
                <a:t>Prévention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1005840"/>
              <a:ext cx="4033431" cy="11789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499"/>
                </a:lnSpc>
                <a:spcBef>
                  <a:spcPct val="0"/>
                </a:spcBef>
              </a:pPr>
              <a:r>
                <a:rPr lang="en-US" sz="2499" strike="noStrike" u="none">
                  <a:solidFill>
                    <a:srgbClr val="222222"/>
                  </a:solidFill>
                  <a:latin typeface="Nyutro Sans"/>
                  <a:ea typeface="Nyutro Sans"/>
                  <a:cs typeface="Nyutro Sans"/>
                  <a:sym typeface="Nyutro Sans"/>
                </a:rPr>
                <a:t>Éviter les futures attaques</a:t>
              </a:r>
            </a:p>
          </p:txBody>
        </p:sp>
      </p:grpSp>
      <p:sp>
        <p:nvSpPr>
          <p:cNvPr name="Freeform 27" id="27"/>
          <p:cNvSpPr/>
          <p:nvPr/>
        </p:nvSpPr>
        <p:spPr>
          <a:xfrm flipH="false" flipV="false" rot="0">
            <a:off x="172010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603493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10349759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4664584" y="4740706"/>
            <a:ext cx="1903307" cy="899745"/>
          </a:xfrm>
          <a:custGeom>
            <a:avLst/>
            <a:gdLst/>
            <a:ahLst/>
            <a:cxnLst/>
            <a:rect r="r" b="b" t="t" l="l"/>
            <a:pathLst>
              <a:path h="899745" w="1903307">
                <a:moveTo>
                  <a:pt x="0" y="0"/>
                </a:moveTo>
                <a:lnTo>
                  <a:pt x="1903307" y="0"/>
                </a:lnTo>
                <a:lnTo>
                  <a:pt x="1903307" y="899745"/>
                </a:lnTo>
                <a:lnTo>
                  <a:pt x="0" y="89974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521450"/>
            <a:ext cx="6886575" cy="309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L'analyse forensique post-attaque est essentielle pour comprendre l'attaque et ses impacts. Voici quelques éléments clés 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Identification des vecteurs d'attaque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Évaluation des dommages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Préparation des rapports d'incidents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Amélioration des mesures de sécurité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42950"/>
            <a:ext cx="68865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Analyse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576171" cy="2770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6172" cy="2770723"/>
            </a:xfrm>
            <a:custGeom>
              <a:avLst/>
              <a:gdLst/>
              <a:ahLst/>
              <a:cxnLst/>
              <a:rect r="r" b="b" t="t" l="l"/>
              <a:pathLst>
                <a:path h="2770723" w="2576172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l="-280" t="0" r="-280" b="0"/>
              </a:stretch>
            </a:blipFill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6083300"/>
            <a:ext cx="6886575" cy="3536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L'équilibre en cybersécurité est essentiel 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Investissement en sécurité pour réduire les pertes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Gestion proactive des risques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Financement approprié pour des solutions efficaces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Évaluation continue des menaces et vulnérabilités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42950"/>
            <a:ext cx="68865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Risques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576171" cy="2770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6172" cy="2770723"/>
            </a:xfrm>
            <a:custGeom>
              <a:avLst/>
              <a:gdLst/>
              <a:ahLst/>
              <a:cxnLst/>
              <a:rect r="r" b="b" t="t" l="l"/>
              <a:pathLst>
                <a:path h="2770723" w="2576172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l="-280" t="0" r="-280" b="0"/>
              </a:stretch>
            </a:blip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978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8274050"/>
            <a:ext cx="6886575" cy="1346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Merci pour votre attention !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Avez-vous des questions ?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 strike="noStrike" u="none">
                <a:solidFill>
                  <a:srgbClr val="FFFFFF"/>
                </a:solidFill>
                <a:latin typeface="Nyutro Sans"/>
                <a:ea typeface="Nyutro Sans"/>
                <a:cs typeface="Nyutro Sans"/>
                <a:sym typeface="Nyutro Sans"/>
              </a:rPr>
              <a:t>N'hésitez pas à partager vos réflexions.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6750" y="742950"/>
            <a:ext cx="688657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00"/>
              </a:lnSpc>
              <a:spcBef>
                <a:spcPct val="0"/>
              </a:spcBef>
            </a:pPr>
            <a:r>
              <a:rPr lang="en-US" b="true" sz="9000" spc="-89" strike="noStrike" u="none">
                <a:solidFill>
                  <a:srgbClr val="FFFFFF"/>
                </a:solidFill>
                <a:latin typeface="Nyutro Sans Heavy"/>
                <a:ea typeface="Nyutro Sans Heavy"/>
                <a:cs typeface="Nyutro Sans Heavy"/>
                <a:sym typeface="Nyutro Sans Heavy"/>
              </a:rPr>
              <a:t>Merci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296400" y="666750"/>
            <a:ext cx="8324850" cy="8953500"/>
            <a:chOff x="0" y="0"/>
            <a:chExt cx="2576171" cy="27707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6172" cy="2770723"/>
            </a:xfrm>
            <a:custGeom>
              <a:avLst/>
              <a:gdLst/>
              <a:ahLst/>
              <a:cxnLst/>
              <a:rect r="r" b="b" t="t" l="l"/>
              <a:pathLst>
                <a:path h="2770723" w="2576172">
                  <a:moveTo>
                    <a:pt x="2088730" y="0"/>
                  </a:moveTo>
                  <a:lnTo>
                    <a:pt x="177673" y="0"/>
                  </a:lnTo>
                  <a:cubicBezTo>
                    <a:pt x="79547" y="0"/>
                    <a:pt x="0" y="79547"/>
                    <a:pt x="0" y="177673"/>
                  </a:cubicBezTo>
                  <a:lnTo>
                    <a:pt x="0" y="2593050"/>
                  </a:lnTo>
                  <a:cubicBezTo>
                    <a:pt x="0" y="2691176"/>
                    <a:pt x="79547" y="2770723"/>
                    <a:pt x="177673" y="2770723"/>
                  </a:cubicBezTo>
                  <a:lnTo>
                    <a:pt x="2398500" y="2770723"/>
                  </a:lnTo>
                  <a:cubicBezTo>
                    <a:pt x="2496626" y="2770723"/>
                    <a:pt x="2576172" y="2691176"/>
                    <a:pt x="2576172" y="2593050"/>
                  </a:cubicBezTo>
                  <a:lnTo>
                    <a:pt x="2576172" y="523958"/>
                  </a:lnTo>
                  <a:cubicBezTo>
                    <a:pt x="2576172" y="480251"/>
                    <a:pt x="2560063" y="438079"/>
                    <a:pt x="2530924" y="405503"/>
                  </a:cubicBezTo>
                  <a:lnTo>
                    <a:pt x="2221146" y="59214"/>
                  </a:lnTo>
                  <a:cubicBezTo>
                    <a:pt x="2187442" y="21536"/>
                    <a:pt x="2139283" y="0"/>
                    <a:pt x="2088730" y="0"/>
                  </a:cubicBezTo>
                  <a:close/>
                </a:path>
              </a:pathLst>
            </a:custGeom>
            <a:blipFill>
              <a:blip r:embed="rId2"/>
              <a:stretch>
                <a:fillRect l="-280" t="0" r="-28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Présentation - Compte à rebours</dc:description>
  <dc:identifier>DAHD6Fy8cGw</dc:identifier>
  <dcterms:modified xsi:type="dcterms:W3CDTF">2011-08-01T06:04:30Z</dcterms:modified>
  <cp:revision>1</cp:revision>
  <dc:title>Présentation - Compte à rebours</dc:title>
</cp:coreProperties>
</file>